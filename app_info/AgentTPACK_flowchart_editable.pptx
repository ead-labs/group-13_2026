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7190720" cy="7315200"/>
  <p:notesSz cx="7315200" cy="171907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edback loop"/>
          <p:cNvSpPr/>
          <p:nvPr/>
        </p:nvSpPr>
        <p:spPr>
          <a:xfrm flipV="1">
            <a:off x="15864840" y="640080"/>
            <a:ext cx="0" cy="1188720"/>
          </a:xfrm>
          <a:prstGeom prst="line">
            <a:avLst/>
          </a:prstGeom>
          <a:noFill/>
          <a:ln w="24130">
            <a:solidFill>
              <a:srgbClr val="2F5D8A"/>
            </a:solidFill>
            <a:prstDash val="dash"/>
          </a:ln>
        </p:spPr>
      </p:sp>
      <p:sp>
        <p:nvSpPr>
          <p:cNvPr id="3" name="Feedback loop"/>
          <p:cNvSpPr/>
          <p:nvPr/>
        </p:nvSpPr>
        <p:spPr>
          <a:xfrm flipH="1">
            <a:off x="1325880" y="640080"/>
            <a:ext cx="14538960" cy="0"/>
          </a:xfrm>
          <a:prstGeom prst="line">
            <a:avLst/>
          </a:prstGeom>
          <a:noFill/>
          <a:ln w="24130">
            <a:solidFill>
              <a:srgbClr val="2F5D8A"/>
            </a:solidFill>
            <a:prstDash val="dash"/>
          </a:ln>
        </p:spPr>
      </p:sp>
      <p:sp>
        <p:nvSpPr>
          <p:cNvPr id="4" name="Feedback loop"/>
          <p:cNvSpPr/>
          <p:nvPr/>
        </p:nvSpPr>
        <p:spPr>
          <a:xfrm>
            <a:off x="1325880" y="640080"/>
            <a:ext cx="0" cy="1335024"/>
          </a:xfrm>
          <a:prstGeom prst="line">
            <a:avLst/>
          </a:prstGeom>
          <a:noFill/>
          <a:ln w="24130">
            <a:solidFill>
              <a:srgbClr val="2F5D8A"/>
            </a:solidFill>
            <a:prstDash val="dash"/>
            <a:tailEnd type="triangle"/>
          </a:ln>
        </p:spPr>
      </p:sp>
      <p:sp>
        <p:nvSpPr>
          <p:cNvPr id="5" name="Feedback label"/>
          <p:cNvSpPr txBox="1"/>
          <p:nvPr/>
        </p:nvSpPr>
        <p:spPr>
          <a:xfrm>
            <a:off x="2743200" y="36576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reviews: opens the cited textbook passages · answers missing details to regenerate</a:t>
            </a:r>
            <a:endParaRPr lang="en-US" sz="1250" dirty="0"/>
          </a:p>
        </p:txBody>
      </p:sp>
      <p:sp>
        <p:nvSpPr>
          <p:cNvPr id="6" name="Reject loop"/>
          <p:cNvSpPr/>
          <p:nvPr/>
        </p:nvSpPr>
        <p:spPr>
          <a:xfrm>
            <a:off x="3703320" y="4023360"/>
            <a:ext cx="0" cy="548640"/>
          </a:xfrm>
          <a:prstGeom prst="line">
            <a:avLst/>
          </a:prstGeom>
          <a:noFill/>
          <a:ln w="24130">
            <a:solidFill>
              <a:srgbClr val="B5432F"/>
            </a:solidFill>
            <a:prstDash val="dash"/>
          </a:ln>
        </p:spPr>
      </p:sp>
      <p:sp>
        <p:nvSpPr>
          <p:cNvPr id="7" name="Reject loop"/>
          <p:cNvSpPr/>
          <p:nvPr/>
        </p:nvSpPr>
        <p:spPr>
          <a:xfrm flipH="1">
            <a:off x="1325880" y="4572000"/>
            <a:ext cx="2377440" cy="0"/>
          </a:xfrm>
          <a:prstGeom prst="line">
            <a:avLst/>
          </a:prstGeom>
          <a:noFill/>
          <a:ln w="24130">
            <a:solidFill>
              <a:srgbClr val="B5432F"/>
            </a:solidFill>
            <a:prstDash val="dash"/>
          </a:ln>
        </p:spPr>
      </p:sp>
      <p:sp>
        <p:nvSpPr>
          <p:cNvPr id="8" name="Reject loop"/>
          <p:cNvSpPr/>
          <p:nvPr/>
        </p:nvSpPr>
        <p:spPr>
          <a:xfrm flipV="1">
            <a:off x="1325880" y="4059936"/>
            <a:ext cx="0" cy="512064"/>
          </a:xfrm>
          <a:prstGeom prst="line">
            <a:avLst/>
          </a:prstGeom>
          <a:noFill/>
          <a:ln w="24130">
            <a:solidFill>
              <a:srgbClr val="B5432F"/>
            </a:solidFill>
            <a:prstDash val="dash"/>
            <a:tailEnd type="triangle"/>
          </a:ln>
        </p:spPr>
      </p:sp>
      <p:sp>
        <p:nvSpPr>
          <p:cNvPr id="9" name="Reject label"/>
          <p:cNvSpPr txBox="1"/>
          <p:nvPr/>
        </p:nvSpPr>
        <p:spPr>
          <a:xfrm>
            <a:off x="36576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5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→ teacher fixes the highlighted field</a:t>
            </a:r>
            <a:endParaRPr lang="en-US" sz="1150" dirty="0"/>
          </a:p>
        </p:txBody>
      </p:sp>
      <p:sp>
        <p:nvSpPr>
          <p:cNvPr id="10" name="1 Teacher input"/>
          <p:cNvSpPr/>
          <p:nvPr/>
        </p:nvSpPr>
        <p:spPr>
          <a:xfrm>
            <a:off x="365760" y="2011680"/>
            <a:ext cx="1920240" cy="2011680"/>
          </a:xfrm>
          <a:prstGeom prst="roundRect">
            <a:avLst>
              <a:gd name="adj" fmla="val 7619"/>
            </a:avLst>
          </a:prstGeom>
          <a:solidFill>
            <a:srgbClr val="E6EEF6"/>
          </a:solidFill>
          <a:ln w="28575">
            <a:solidFill>
              <a:srgbClr val="2F5D8A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input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&amp; chapter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&amp; method</a:t>
            </a:r>
            <a:endParaRPr lang="en-US" sz="16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tech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F5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wizard</a:t>
            </a:r>
            <a:endParaRPr lang="en-US" sz="1600" dirty="0"/>
          </a:p>
        </p:txBody>
      </p:sp>
      <p:sp>
        <p:nvSpPr>
          <p:cNvPr id="11" name="2 Input guardrails"/>
          <p:cNvSpPr/>
          <p:nvPr/>
        </p:nvSpPr>
        <p:spPr>
          <a:xfrm>
            <a:off x="2743200" y="2011680"/>
            <a:ext cx="1920240" cy="2011680"/>
          </a:xfrm>
          <a:prstGeom prst="roundRect">
            <a:avLst>
              <a:gd name="adj" fmla="val 7619"/>
            </a:avLst>
          </a:prstGeom>
          <a:solidFill>
            <a:srgbClr val="FDF3E2"/>
          </a:solidFill>
          <a:ln w="28575">
            <a:solidFill>
              <a:srgbClr val="C98A1B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guardrails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well-formed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safe text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consistent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 textbook</a:t>
            </a:r>
            <a:endParaRPr lang="en-US" sz="1500" dirty="0"/>
          </a:p>
        </p:txBody>
      </p:sp>
      <p:sp>
        <p:nvSpPr>
          <p:cNvPr id="12" name="3 NCERT textbook"/>
          <p:cNvSpPr/>
          <p:nvPr/>
        </p:nvSpPr>
        <p:spPr>
          <a:xfrm>
            <a:off x="5120640" y="1938528"/>
            <a:ext cx="1828800" cy="2157984"/>
          </a:xfrm>
          <a:prstGeom prst="can">
            <a:avLst/>
          </a:prstGeom>
          <a:solidFill>
            <a:srgbClr val="F1EFE8"/>
          </a:solidFill>
          <a:ln w="28575">
            <a:solidFill>
              <a:srgbClr val="8A887F"/>
            </a:solidFill>
            <a:prstDash val="solid"/>
          </a:ln>
        </p:spPr>
      </p:sp>
      <p:sp>
        <p:nvSpPr>
          <p:cNvPr id="13" name="3 NCERT textbook text"/>
          <p:cNvSpPr txBox="1"/>
          <p:nvPr/>
        </p:nvSpPr>
        <p:spPr>
          <a:xfrm>
            <a:off x="5120640" y="228600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NCERT textbook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7 · 18 chapters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top-4 passages</a:t>
            </a:r>
            <a:endParaRPr lang="en-US" sz="1500" dirty="0"/>
          </a:p>
        </p:txBody>
      </p:sp>
      <p:sp>
        <p:nvSpPr>
          <p:cNvPr id="14" name="4 Agents panel"/>
          <p:cNvSpPr/>
          <p:nvPr/>
        </p:nvSpPr>
        <p:spPr>
          <a:xfrm>
            <a:off x="7406640" y="1005840"/>
            <a:ext cx="4754880" cy="4206240"/>
          </a:xfrm>
          <a:prstGeom prst="roundRect">
            <a:avLst>
              <a:gd name="adj" fmla="val 3913"/>
            </a:avLst>
          </a:prstGeom>
          <a:solidFill>
            <a:srgbClr val="F7F3FB"/>
          </a:solidFill>
          <a:ln w="28575">
            <a:solidFill>
              <a:srgbClr val="7A4FA0"/>
            </a:solidFill>
            <a:prstDash val="solid"/>
          </a:ln>
        </p:spPr>
      </p:sp>
      <p:sp>
        <p:nvSpPr>
          <p:cNvPr id="15" name="Panel title"/>
          <p:cNvSpPr txBox="1"/>
          <p:nvPr/>
        </p:nvSpPr>
        <p:spPr>
          <a:xfrm>
            <a:off x="7406640" y="1170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TPACK core</a:t>
            </a:r>
            <a:endParaRPr lang="en-US" sz="1500" dirty="0"/>
          </a:p>
        </p:txBody>
      </p:sp>
      <p:sp>
        <p:nvSpPr>
          <p:cNvPr id="16" name="Tier: foundational"/>
          <p:cNvSpPr txBox="1"/>
          <p:nvPr/>
        </p:nvSpPr>
        <p:spPr>
          <a:xfrm>
            <a:off x="745236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A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</a:t>
            </a:r>
            <a:endParaRPr lang="en-US" sz="1050" dirty="0"/>
          </a:p>
        </p:txBody>
      </p:sp>
      <p:sp>
        <p:nvSpPr>
          <p:cNvPr id="17" name="Tier: intersections"/>
          <p:cNvSpPr txBox="1"/>
          <p:nvPr/>
        </p:nvSpPr>
        <p:spPr>
          <a:xfrm>
            <a:off x="909828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A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INTERSECTIONS</a:t>
            </a:r>
            <a:endParaRPr lang="en-US" sz="1050" dirty="0"/>
          </a:p>
        </p:txBody>
      </p:sp>
      <p:sp>
        <p:nvSpPr>
          <p:cNvPr id="18" name="Tier: integration"/>
          <p:cNvSpPr txBox="1"/>
          <p:nvPr/>
        </p:nvSpPr>
        <p:spPr>
          <a:xfrm>
            <a:off x="1065276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A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19" name="Agent CK"/>
          <p:cNvSpPr/>
          <p:nvPr/>
        </p:nvSpPr>
        <p:spPr>
          <a:xfrm>
            <a:off x="7589520" y="178308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FE8F6"/>
          </a:solidFill>
          <a:ln w="19050">
            <a:solidFill>
              <a:srgbClr val="7A4FA0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600" dirty="0"/>
          </a:p>
        </p:txBody>
      </p:sp>
      <p:sp>
        <p:nvSpPr>
          <p:cNvPr id="20" name="Agent PK"/>
          <p:cNvSpPr/>
          <p:nvPr/>
        </p:nvSpPr>
        <p:spPr>
          <a:xfrm>
            <a:off x="7589520" y="278892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FE8F6"/>
          </a:solidFill>
          <a:ln w="19050">
            <a:solidFill>
              <a:srgbClr val="7A4FA0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</a:t>
            </a:r>
            <a:endParaRPr lang="en-US" sz="1600" dirty="0"/>
          </a:p>
        </p:txBody>
      </p:sp>
      <p:sp>
        <p:nvSpPr>
          <p:cNvPr id="21" name="Agent TK"/>
          <p:cNvSpPr/>
          <p:nvPr/>
        </p:nvSpPr>
        <p:spPr>
          <a:xfrm>
            <a:off x="7589520" y="379476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FE8F6"/>
          </a:solidFill>
          <a:ln w="19050">
            <a:solidFill>
              <a:srgbClr val="7A4FA0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22" name="Agent PCK"/>
          <p:cNvSpPr/>
          <p:nvPr/>
        </p:nvSpPr>
        <p:spPr>
          <a:xfrm>
            <a:off x="9235440" y="178308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FE8F6"/>
          </a:solidFill>
          <a:ln w="19050">
            <a:solidFill>
              <a:srgbClr val="7A4FA0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PCK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 + PK</a:t>
            </a:r>
            <a:endParaRPr lang="en-US" sz="1600" dirty="0"/>
          </a:p>
        </p:txBody>
      </p:sp>
      <p:sp>
        <p:nvSpPr>
          <p:cNvPr id="23" name="Agent TCK"/>
          <p:cNvSpPr/>
          <p:nvPr/>
        </p:nvSpPr>
        <p:spPr>
          <a:xfrm>
            <a:off x="9235440" y="278892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FE8F6"/>
          </a:solidFill>
          <a:ln w="19050">
            <a:solidFill>
              <a:srgbClr val="7A4FA0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TCK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 + TK</a:t>
            </a:r>
            <a:endParaRPr lang="en-US" sz="1600" dirty="0"/>
          </a:p>
        </p:txBody>
      </p:sp>
      <p:sp>
        <p:nvSpPr>
          <p:cNvPr id="24" name="Agent TPK"/>
          <p:cNvSpPr/>
          <p:nvPr/>
        </p:nvSpPr>
        <p:spPr>
          <a:xfrm>
            <a:off x="9235440" y="379476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FE8F6"/>
          </a:solidFill>
          <a:ln w="19050">
            <a:solidFill>
              <a:srgbClr val="7A4FA0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TPK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+ TK</a:t>
            </a:r>
            <a:endParaRPr lang="en-US" sz="1600" dirty="0"/>
          </a:p>
        </p:txBody>
      </p:sp>
      <p:sp>
        <p:nvSpPr>
          <p:cNvPr id="25" name="Agent TPACK"/>
          <p:cNvSpPr/>
          <p:nvPr/>
        </p:nvSpPr>
        <p:spPr>
          <a:xfrm>
            <a:off x="10789920" y="260604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7A4FA0"/>
          </a:solidFill>
          <a:ln w="19050">
            <a:solidFill>
              <a:srgbClr val="5B3A7A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TPACK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</a:t>
            </a:r>
            <a:endParaRPr lang="en-US" sz="1600" dirty="0"/>
          </a:p>
        </p:txBody>
      </p:sp>
      <p:sp>
        <p:nvSpPr>
          <p:cNvPr id="26" name="CK→PCK"/>
          <p:cNvSpPr/>
          <p:nvPr/>
        </p:nvSpPr>
        <p:spPr>
          <a:xfrm>
            <a:off x="8778240" y="2048256"/>
            <a:ext cx="438912" cy="0"/>
          </a:xfrm>
          <a:prstGeom prst="line">
            <a:avLst/>
          </a:prstGeom>
          <a:noFill/>
          <a:ln w="19050">
            <a:solidFill>
              <a:srgbClr val="7A4FA0"/>
            </a:solidFill>
            <a:prstDash val="solid"/>
            <a:tailEnd type="triangle"/>
          </a:ln>
        </p:spPr>
      </p:sp>
      <p:sp>
        <p:nvSpPr>
          <p:cNvPr id="27" name="PK→PCK"/>
          <p:cNvSpPr/>
          <p:nvPr/>
        </p:nvSpPr>
        <p:spPr>
          <a:xfrm flipV="1">
            <a:off x="8778240" y="2194560"/>
            <a:ext cx="438912" cy="822960"/>
          </a:xfrm>
          <a:prstGeom prst="line">
            <a:avLst/>
          </a:prstGeom>
          <a:noFill/>
          <a:ln w="19050">
            <a:solidFill>
              <a:srgbClr val="7A4FA0"/>
            </a:solidFill>
            <a:prstDash val="solid"/>
            <a:tailEnd type="triangle"/>
          </a:ln>
        </p:spPr>
      </p:sp>
      <p:sp>
        <p:nvSpPr>
          <p:cNvPr id="28" name="CK→TCK"/>
          <p:cNvSpPr/>
          <p:nvPr/>
        </p:nvSpPr>
        <p:spPr>
          <a:xfrm>
            <a:off x="8778240" y="2194560"/>
            <a:ext cx="438912" cy="822960"/>
          </a:xfrm>
          <a:prstGeom prst="line">
            <a:avLst/>
          </a:prstGeom>
          <a:noFill/>
          <a:ln w="19050">
            <a:solidFill>
              <a:srgbClr val="7A4FA0"/>
            </a:solidFill>
            <a:prstDash val="solid"/>
            <a:tailEnd type="triangle"/>
          </a:ln>
        </p:spPr>
      </p:sp>
      <p:sp>
        <p:nvSpPr>
          <p:cNvPr id="29" name="TK→TCK"/>
          <p:cNvSpPr/>
          <p:nvPr/>
        </p:nvSpPr>
        <p:spPr>
          <a:xfrm flipV="1">
            <a:off x="8778240" y="3200400"/>
            <a:ext cx="438912" cy="822960"/>
          </a:xfrm>
          <a:prstGeom prst="line">
            <a:avLst/>
          </a:prstGeom>
          <a:noFill/>
          <a:ln w="19050">
            <a:solidFill>
              <a:srgbClr val="7A4FA0"/>
            </a:solidFill>
            <a:prstDash val="solid"/>
            <a:tailEnd type="triangle"/>
          </a:ln>
        </p:spPr>
      </p:sp>
      <p:sp>
        <p:nvSpPr>
          <p:cNvPr id="30" name="PK→TPK"/>
          <p:cNvSpPr/>
          <p:nvPr/>
        </p:nvSpPr>
        <p:spPr>
          <a:xfrm>
            <a:off x="8778240" y="3200400"/>
            <a:ext cx="438912" cy="822960"/>
          </a:xfrm>
          <a:prstGeom prst="line">
            <a:avLst/>
          </a:prstGeom>
          <a:noFill/>
          <a:ln w="19050">
            <a:solidFill>
              <a:srgbClr val="7A4FA0"/>
            </a:solidFill>
            <a:prstDash val="solid"/>
            <a:tailEnd type="triangle"/>
          </a:ln>
        </p:spPr>
      </p:sp>
      <p:sp>
        <p:nvSpPr>
          <p:cNvPr id="31" name="TK→TPK"/>
          <p:cNvSpPr/>
          <p:nvPr/>
        </p:nvSpPr>
        <p:spPr>
          <a:xfrm>
            <a:off x="8778240" y="4169664"/>
            <a:ext cx="438912" cy="0"/>
          </a:xfrm>
          <a:prstGeom prst="line">
            <a:avLst/>
          </a:prstGeom>
          <a:noFill/>
          <a:ln w="19050">
            <a:solidFill>
              <a:srgbClr val="7A4FA0"/>
            </a:solidFill>
            <a:prstDash val="solid"/>
            <a:tailEnd type="triangle"/>
          </a:ln>
        </p:spPr>
      </p:sp>
      <p:sp>
        <p:nvSpPr>
          <p:cNvPr id="32" name="PCK→TPACK"/>
          <p:cNvSpPr/>
          <p:nvPr/>
        </p:nvSpPr>
        <p:spPr>
          <a:xfrm>
            <a:off x="10424160" y="2103120"/>
            <a:ext cx="347472" cy="777240"/>
          </a:xfrm>
          <a:prstGeom prst="line">
            <a:avLst/>
          </a:prstGeom>
          <a:noFill/>
          <a:ln w="19050">
            <a:solidFill>
              <a:srgbClr val="7A4FA0"/>
            </a:solidFill>
            <a:prstDash val="solid"/>
            <a:tailEnd type="triangle"/>
          </a:ln>
        </p:spPr>
      </p:sp>
      <p:sp>
        <p:nvSpPr>
          <p:cNvPr id="33" name="TCK→TPACK"/>
          <p:cNvSpPr/>
          <p:nvPr/>
        </p:nvSpPr>
        <p:spPr>
          <a:xfrm>
            <a:off x="10424160" y="3108960"/>
            <a:ext cx="347472" cy="0"/>
          </a:xfrm>
          <a:prstGeom prst="line">
            <a:avLst/>
          </a:prstGeom>
          <a:noFill/>
          <a:ln w="19050">
            <a:solidFill>
              <a:srgbClr val="7A4FA0"/>
            </a:solidFill>
            <a:prstDash val="solid"/>
            <a:tailEnd type="triangle"/>
          </a:ln>
        </p:spPr>
      </p:sp>
      <p:sp>
        <p:nvSpPr>
          <p:cNvPr id="34" name="TPK→TPACK"/>
          <p:cNvSpPr/>
          <p:nvPr/>
        </p:nvSpPr>
        <p:spPr>
          <a:xfrm flipV="1">
            <a:off x="10424160" y="3337560"/>
            <a:ext cx="347472" cy="777240"/>
          </a:xfrm>
          <a:prstGeom prst="line">
            <a:avLst/>
          </a:prstGeom>
          <a:noFill/>
          <a:ln w="19050">
            <a:solidFill>
              <a:srgbClr val="7A4FA0"/>
            </a:solidFill>
            <a:prstDash val="solid"/>
            <a:tailEnd type="triangle"/>
          </a:ln>
        </p:spPr>
      </p:sp>
      <p:sp>
        <p:nvSpPr>
          <p:cNvPr id="35" name="Panel footer"/>
          <p:cNvSpPr txBox="1"/>
          <p:nvPr/>
        </p:nvSpPr>
        <p:spPr>
          <a:xfrm>
            <a:off x="7406640" y="47731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stays in its domain · trade-offs recorded</a:t>
            </a:r>
            <a:endParaRPr lang="en-US" sz="1150" dirty="0"/>
          </a:p>
        </p:txBody>
      </p:sp>
      <p:sp>
        <p:nvSpPr>
          <p:cNvPr id="36" name="Agents ↔ LLM"/>
          <p:cNvSpPr/>
          <p:nvPr/>
        </p:nvSpPr>
        <p:spPr>
          <a:xfrm>
            <a:off x="9784080" y="5230368"/>
            <a:ext cx="0" cy="329184"/>
          </a:xfrm>
          <a:prstGeom prst="line">
            <a:avLst/>
          </a:prstGeom>
          <a:noFill/>
          <a:ln w="25400">
            <a:solidFill>
              <a:srgbClr val="4A4944"/>
            </a:solidFill>
            <a:prstDash val="solid"/>
            <a:headEnd type="triangle"/>
            <a:tailEnd type="triangle"/>
          </a:ln>
        </p:spPr>
      </p:sp>
      <p:sp>
        <p:nvSpPr>
          <p:cNvPr id="37" name="Gemini LLM"/>
          <p:cNvSpPr/>
          <p:nvPr/>
        </p:nvSpPr>
        <p:spPr>
          <a:xfrm>
            <a:off x="7406640" y="5577840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F1EFE8"/>
          </a:solidFill>
          <a:ln w="19050">
            <a:solidFill>
              <a:srgbClr val="8A887F"/>
            </a:solidFill>
            <a:prstDash val="dash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LLM · JSON output · retry &amp; fallback</a:t>
            </a:r>
            <a:endParaRPr lang="en-US" sz="1300" dirty="0"/>
          </a:p>
        </p:txBody>
      </p:sp>
      <p:sp>
        <p:nvSpPr>
          <p:cNvPr id="38" name="5 Output checks"/>
          <p:cNvSpPr/>
          <p:nvPr/>
        </p:nvSpPr>
        <p:spPr>
          <a:xfrm>
            <a:off x="12618720" y="2011680"/>
            <a:ext cx="1737360" cy="2011680"/>
          </a:xfrm>
          <a:prstGeom prst="roundRect">
            <a:avLst>
              <a:gd name="adj" fmla="val 8421"/>
            </a:avLst>
          </a:prstGeom>
          <a:solidFill>
            <a:srgbClr val="FDF3E2"/>
          </a:solidFill>
          <a:ln w="28575">
            <a:solidFill>
              <a:srgbClr val="C98A1B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checks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 format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citations real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timing check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F5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retry if invalid</a:t>
            </a:r>
            <a:endParaRPr lang="en-US" sz="1500" dirty="0"/>
          </a:p>
        </p:txBody>
      </p:sp>
      <p:sp>
        <p:nvSpPr>
          <p:cNvPr id="39" name="6 Teacher receives"/>
          <p:cNvSpPr/>
          <p:nvPr/>
        </p:nvSpPr>
        <p:spPr>
          <a:xfrm>
            <a:off x="14813280" y="1828800"/>
            <a:ext cx="2103120" cy="2377440"/>
          </a:xfrm>
          <a:prstGeom prst="roundRect">
            <a:avLst>
              <a:gd name="adj" fmla="val 6957"/>
            </a:avLst>
          </a:prstGeom>
          <a:solidFill>
            <a:srgbClr val="E6F3EA"/>
          </a:solidFill>
          <a:ln w="28575">
            <a:solidFill>
              <a:srgbClr val="2E7D4F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receives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plan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 citations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handouts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exit-ticket quiz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trade-offs</a:t>
            </a:r>
            <a:endParaRPr lang="en-US" sz="1600" dirty="0"/>
          </a:p>
        </p:txBody>
      </p:sp>
      <p:sp>
        <p:nvSpPr>
          <p:cNvPr id="40" name="Flow arrow 1"/>
          <p:cNvSpPr/>
          <p:nvPr/>
        </p:nvSpPr>
        <p:spPr>
          <a:xfrm>
            <a:off x="2286000" y="3017520"/>
            <a:ext cx="438912" cy="0"/>
          </a:xfrm>
          <a:prstGeom prst="line">
            <a:avLst/>
          </a:prstGeom>
          <a:noFill/>
          <a:ln w="38100">
            <a:solidFill>
              <a:srgbClr val="4A4944"/>
            </a:solidFill>
            <a:prstDash val="solid"/>
            <a:tailEnd type="triangle"/>
          </a:ln>
        </p:spPr>
      </p:sp>
      <p:sp>
        <p:nvSpPr>
          <p:cNvPr id="41" name="Flow arrow 2"/>
          <p:cNvSpPr/>
          <p:nvPr/>
        </p:nvSpPr>
        <p:spPr>
          <a:xfrm>
            <a:off x="4663440" y="3017520"/>
            <a:ext cx="438912" cy="0"/>
          </a:xfrm>
          <a:prstGeom prst="line">
            <a:avLst/>
          </a:prstGeom>
          <a:noFill/>
          <a:ln w="38100">
            <a:solidFill>
              <a:srgbClr val="4A4944"/>
            </a:solidFill>
            <a:prstDash val="solid"/>
            <a:tailEnd type="triangle"/>
          </a:ln>
        </p:spPr>
      </p:sp>
      <p:sp>
        <p:nvSpPr>
          <p:cNvPr id="42" name="Flow arrow 3"/>
          <p:cNvSpPr/>
          <p:nvPr/>
        </p:nvSpPr>
        <p:spPr>
          <a:xfrm>
            <a:off x="6949440" y="3017520"/>
            <a:ext cx="438912" cy="0"/>
          </a:xfrm>
          <a:prstGeom prst="line">
            <a:avLst/>
          </a:prstGeom>
          <a:noFill/>
          <a:ln w="38100">
            <a:solidFill>
              <a:srgbClr val="4A4944"/>
            </a:solidFill>
            <a:prstDash val="solid"/>
            <a:tailEnd type="triangle"/>
          </a:ln>
        </p:spPr>
      </p:sp>
      <p:sp>
        <p:nvSpPr>
          <p:cNvPr id="43" name="Flow arrow 4"/>
          <p:cNvSpPr/>
          <p:nvPr/>
        </p:nvSpPr>
        <p:spPr>
          <a:xfrm>
            <a:off x="12161520" y="3017520"/>
            <a:ext cx="438912" cy="0"/>
          </a:xfrm>
          <a:prstGeom prst="line">
            <a:avLst/>
          </a:prstGeom>
          <a:noFill/>
          <a:ln w="38100">
            <a:solidFill>
              <a:srgbClr val="4A4944"/>
            </a:solidFill>
            <a:prstDash val="solid"/>
            <a:tailEnd type="triangle"/>
          </a:ln>
        </p:spPr>
      </p:sp>
      <p:sp>
        <p:nvSpPr>
          <p:cNvPr id="44" name="Flow arrow 5"/>
          <p:cNvSpPr/>
          <p:nvPr/>
        </p:nvSpPr>
        <p:spPr>
          <a:xfrm>
            <a:off x="14356080" y="3017520"/>
            <a:ext cx="438912" cy="0"/>
          </a:xfrm>
          <a:prstGeom prst="line">
            <a:avLst/>
          </a:prstGeom>
          <a:noFill/>
          <a:ln w="38100">
            <a:solidFill>
              <a:srgbClr val="4A4944"/>
            </a:solidFill>
            <a:prstDash val="solid"/>
            <a:tailEnd type="triangle"/>
          </a:ln>
        </p:spPr>
      </p:sp>
      <p:sp>
        <p:nvSpPr>
          <p:cNvPr id="45" name="Step 1 badge"/>
          <p:cNvSpPr/>
          <p:nvPr/>
        </p:nvSpPr>
        <p:spPr>
          <a:xfrm>
            <a:off x="192024" y="1837944"/>
            <a:ext cx="347472" cy="347472"/>
          </a:xfrm>
          <a:prstGeom prst="ellipse">
            <a:avLst/>
          </a:prstGeom>
          <a:solidFill>
            <a:srgbClr val="1D1D1B"/>
          </a:solidFill>
          <a:ln w="12700">
            <a:solidFill>
              <a:srgbClr val="1D1D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Step 2 badge"/>
          <p:cNvSpPr/>
          <p:nvPr/>
        </p:nvSpPr>
        <p:spPr>
          <a:xfrm>
            <a:off x="2569464" y="1837944"/>
            <a:ext cx="347472" cy="347472"/>
          </a:xfrm>
          <a:prstGeom prst="ellipse">
            <a:avLst/>
          </a:prstGeom>
          <a:solidFill>
            <a:srgbClr val="1D1D1B"/>
          </a:solidFill>
          <a:ln w="12700">
            <a:solidFill>
              <a:srgbClr val="1D1D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Step 3 badge"/>
          <p:cNvSpPr/>
          <p:nvPr/>
        </p:nvSpPr>
        <p:spPr>
          <a:xfrm>
            <a:off x="5056632" y="1783080"/>
            <a:ext cx="347472" cy="347472"/>
          </a:xfrm>
          <a:prstGeom prst="ellipse">
            <a:avLst/>
          </a:prstGeom>
          <a:solidFill>
            <a:srgbClr val="1D1D1B"/>
          </a:solidFill>
          <a:ln w="12700">
            <a:solidFill>
              <a:srgbClr val="1D1D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Step 4 badge"/>
          <p:cNvSpPr/>
          <p:nvPr/>
        </p:nvSpPr>
        <p:spPr>
          <a:xfrm>
            <a:off x="7232904" y="832104"/>
            <a:ext cx="347472" cy="347472"/>
          </a:xfrm>
          <a:prstGeom prst="ellipse">
            <a:avLst/>
          </a:prstGeom>
          <a:solidFill>
            <a:srgbClr val="1D1D1B"/>
          </a:solidFill>
          <a:ln w="12700">
            <a:solidFill>
              <a:srgbClr val="1D1D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Step 5 badge"/>
          <p:cNvSpPr/>
          <p:nvPr/>
        </p:nvSpPr>
        <p:spPr>
          <a:xfrm>
            <a:off x="12444984" y="1837944"/>
            <a:ext cx="347472" cy="347472"/>
          </a:xfrm>
          <a:prstGeom prst="ellipse">
            <a:avLst/>
          </a:prstGeom>
          <a:solidFill>
            <a:srgbClr val="1D1D1B"/>
          </a:solidFill>
          <a:ln w="12700">
            <a:solidFill>
              <a:srgbClr val="1D1D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Step 6 badge"/>
          <p:cNvSpPr/>
          <p:nvPr/>
        </p:nvSpPr>
        <p:spPr>
          <a:xfrm>
            <a:off x="14639544" y="1655064"/>
            <a:ext cx="347472" cy="347472"/>
          </a:xfrm>
          <a:prstGeom prst="ellipse">
            <a:avLst/>
          </a:prstGeom>
          <a:solidFill>
            <a:srgbClr val="1D1D1B"/>
          </a:solidFill>
          <a:ln w="12700">
            <a:solidFill>
              <a:srgbClr val="1D1D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51" name="Audit band"/>
          <p:cNvSpPr/>
          <p:nvPr/>
        </p:nvSpPr>
        <p:spPr>
          <a:xfrm>
            <a:off x="365760" y="6547104"/>
            <a:ext cx="16550640" cy="512064"/>
          </a:xfrm>
          <a:prstGeom prst="roundRect">
            <a:avLst>
              <a:gd name="adj" fmla="val 21429"/>
            </a:avLst>
          </a:prstGeom>
          <a:solidFill>
            <a:srgbClr val="F6F4EE"/>
          </a:solidFill>
          <a:ln w="15875">
            <a:solidFill>
              <a:srgbClr val="C9C6BC"/>
            </a:solidFill>
            <a:prstDash val="dash"/>
          </a:ln>
        </p:spPr>
        <p:txBody>
          <a:bodyPr wrap="square" lIns="50800" tIns="76200" rIns="762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is traced with one id: requests, agent hand-offs, decisions and timings form an audit log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AgentTPACK system overview</dc:title>
  <dc:subject>PptxGenJS Presentation</dc:subject>
  <dc:creator>PptxGenJS</dc:creator>
  <cp:lastModifiedBy>PptxGenJS</cp:lastModifiedBy>
  <cp:revision>1</cp:revision>
  <dcterms:created xsi:type="dcterms:W3CDTF">2026-10-20T17:27:03Z</dcterms:created>
  <dcterms:modified xsi:type="dcterms:W3CDTF">2026-10-20T17:27:03Z</dcterms:modified>
</cp:coreProperties>
</file>