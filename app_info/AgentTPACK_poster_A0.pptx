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30275784" cy="3154680"/>
          </a:xfrm>
          <a:prstGeom prst="rect">
            <a:avLst>
              <a:gd name="adj" fmla="val 5217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29178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AgentTPACK: Multi-Agent, TPACK-Grounded Lesson Planning</a:t>
            </a:r>
            <a:endParaRPr lang="en-US" sz="2400" dirty="0"/>
          </a:p>
        </p:txBody>
      </p:sp>
      <p:sp>
        <p:nvSpPr>
          <p:cNvPr id="4" name="Deployed app URL"/>
          <p:cNvSpPr txBox="1"/>
          <p:nvPr/>
        </p:nvSpPr>
        <p:spPr>
          <a:xfrm>
            <a:off x="548640" y="1298448"/>
            <a:ext cx="29178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 </a:t>
            </a:r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BFD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29178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E6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AI agents reason with Content, Pedagogy and Technology knowledge, grounded in the NCERT textbook and transparent to the teacher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917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BFD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Ahmedabad University  ·  Project lead: Dr. Shashi Kant Shankar  ·  Group 13</a:t>
            </a:r>
            <a:endParaRPr lang="en-US" sz="2400" dirty="0"/>
          </a:p>
        </p:txBody>
      </p:sp>
      <p:sp>
        <p:nvSpPr>
          <p:cNvPr id="7" name="Challenge and requirements"/>
          <p:cNvSpPr/>
          <p:nvPr/>
        </p:nvSpPr>
        <p:spPr>
          <a:xfrm>
            <a:off x="548640" y="3520440"/>
            <a:ext cx="14452092" cy="118186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849624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82496" y="3813048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Educational Challenge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709160"/>
            <a:ext cx="7488113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job. </a:t>
            </a:r>
            <a:pPr indent="0" marL="0">
              <a:lnSpc>
                <a:spcPct val="100000"/>
              </a:lnSpc>
              <a:spcAft>
                <a:spcPts val="1152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balance curriculum objectives, pedagogy, technology, learner diversity, classroom resources, assessment and prior learning, all at once.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tools.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Single-LLM generators give generic lesson plans that: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7068312"/>
            <a:ext cx="7488113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educational reasoning and context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TPACK framework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learn from past teaching sessions</a:t>
            </a:r>
            <a:endParaRPr lang="en-US" sz="2400" dirty="0"/>
          </a:p>
        </p:txBody>
      </p:sp>
      <p:sp>
        <p:nvSpPr>
          <p:cNvPr id="12" name="Current practice"/>
          <p:cNvSpPr/>
          <p:nvPr/>
        </p:nvSpPr>
        <p:spPr>
          <a:xfrm>
            <a:off x="8649401" y="4709160"/>
            <a:ext cx="6058723" cy="2267712"/>
          </a:xfrm>
          <a:prstGeom prst="roundRect">
            <a:avLst>
              <a:gd name="adj" fmla="val 7258"/>
            </a:avLst>
          </a:prstGeom>
          <a:solidFill>
            <a:srgbClr val="F1EFE8"/>
          </a:solidFill>
          <a:ln w="25400">
            <a:solidFill>
              <a:srgbClr val="8A88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50569" y="4910328"/>
            <a:ext cx="5656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100" kern="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PRACTICE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850569" y="5294376"/>
            <a:ext cx="565638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LLM → static prompt → generic lesson plan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850569" y="6062472"/>
            <a:ext cx="565638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· no institutional context · no TPACK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49401" y="7022592"/>
            <a:ext cx="6058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400" dirty="0"/>
          </a:p>
        </p:txBody>
      </p:sp>
      <p:sp>
        <p:nvSpPr>
          <p:cNvPr id="17" name="AgentTPACK vision"/>
          <p:cNvSpPr/>
          <p:nvPr/>
        </p:nvSpPr>
        <p:spPr>
          <a:xfrm>
            <a:off x="8649401" y="7434072"/>
            <a:ext cx="6058723" cy="2267712"/>
          </a:xfrm>
          <a:prstGeom prst="roundRect">
            <a:avLst>
              <a:gd name="adj" fmla="val 7258"/>
            </a:avLst>
          </a:prstGeom>
          <a:solidFill>
            <a:srgbClr val="E3F2EE"/>
          </a:solidFill>
          <a:ln w="31750">
            <a:solidFill>
              <a:srgbClr val="2E7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50569" y="7635240"/>
            <a:ext cx="5656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1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AGENTTPACK VISION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850569" y="8019288"/>
            <a:ext cx="565638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 + RAG + institutional knowledge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850569" y="8787384"/>
            <a:ext cx="565638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context-aware, evidence-driven consensus lesson plan</a:t>
            </a:r>
            <a:endParaRPr lang="en-US" sz="2400" dirty="0"/>
          </a:p>
        </p:txBody>
      </p:sp>
      <p:sp>
        <p:nvSpPr>
          <p:cNvPr id="21" name="Design challenge"/>
          <p:cNvSpPr/>
          <p:nvPr/>
        </p:nvSpPr>
        <p:spPr>
          <a:xfrm>
            <a:off x="841248" y="10021824"/>
            <a:ext cx="13866876" cy="2116836"/>
          </a:xfrm>
          <a:prstGeom prst="roundRect">
            <a:avLst>
              <a:gd name="adj" fmla="val 7775"/>
            </a:avLst>
          </a:prstGeom>
          <a:solidFill>
            <a:srgbClr val="FDF3E2"/>
          </a:solidFill>
          <a:ln w="3175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61288" y="10250424"/>
            <a:ext cx="13226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10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CHALLENGE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10661904"/>
            <a:ext cx="13226796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i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might multiple specialised AI agents collaboratively design better lessons than a single Large Language Model while preserving teacher agency?”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1248" y="12540996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682496" y="12504420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Requirements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13400532"/>
            <a:ext cx="138668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reasoning: </a:t>
            </a:r>
            <a:pPr indent="0" marL="0">
              <a:lnSpc>
                <a:spcPct val="100000"/>
              </a:lnSpc>
              <a:spcAft>
                <a:spcPts val="576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agents analyse independently and reach a consensus.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TPACK integration: </a:t>
            </a:r>
            <a:pPr indent="0" marL="0">
              <a:lnSpc>
                <a:spcPct val="100000"/>
              </a:lnSpc>
              <a:spcAft>
                <a:spcPts val="576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grounded in the TPACK framework.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</a:t>
            </a:r>
            <a:pPr indent="0" marL="0">
              <a:lnSpc>
                <a:spcPct val="100000"/>
              </a:lnSpc>
              <a:spcAft>
                <a:spcPts val="576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grounded in reliable institutional sources, not internet data.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agency &amp; trust: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reasoning keeps teachers in charge.</a:t>
            </a:r>
            <a:endParaRPr lang="en-US" sz="2400" dirty="0"/>
          </a:p>
        </p:txBody>
      </p:sp>
      <p:sp>
        <p:nvSpPr>
          <p:cNvPr id="27" name="Design and development"/>
          <p:cNvSpPr/>
          <p:nvPr/>
        </p:nvSpPr>
        <p:spPr>
          <a:xfrm>
            <a:off x="548640" y="15613380"/>
            <a:ext cx="14452092" cy="10062972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15942564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1682496" y="15905988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Development Process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16802100"/>
            <a:ext cx="13866876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educational need analysis to multi-agent architecture and iterative evaluation.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41248" y="17849088"/>
            <a:ext cx="512064" cy="512064"/>
          </a:xfrm>
          <a:prstGeom prst="ellipse">
            <a:avLst/>
          </a:prstGeom>
          <a:solidFill>
            <a:srgbClr val="2E7D6B"/>
          </a:solidFill>
          <a:ln>
            <a:solidFill>
              <a:srgbClr val="2E7D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499616" y="17867376"/>
            <a:ext cx="290779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analysis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17867376"/>
            <a:ext cx="100721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planning time 75%: from 60 to 15 minutes per lesson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8–10 NCERT science teachers; proof of concept on Class 7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classroom infrastructure, access limits and competency levels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41248" y="19065240"/>
            <a:ext cx="13866876" cy="0"/>
          </a:xfrm>
          <a:prstGeom prst="line">
            <a:avLst/>
          </a:prstGeom>
          <a:noFill/>
          <a:ln w="15240">
            <a:solidFill>
              <a:srgbClr val="D6D3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19211544"/>
            <a:ext cx="512064" cy="512064"/>
          </a:xfrm>
          <a:prstGeom prst="ellipse">
            <a:avLst/>
          </a:prstGeom>
          <a:solidFill>
            <a:srgbClr val="2E7D6B"/>
          </a:solidFill>
          <a:ln>
            <a:solidFill>
              <a:srgbClr val="2E7D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1499616" y="19229832"/>
            <a:ext cx="29077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rationale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4636008" y="19229832"/>
            <a:ext cx="10072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remains the primary evaluator and decision-maker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RAG; context-filtered pedagogy &amp; technology agents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841248" y="20116800"/>
            <a:ext cx="13866876" cy="0"/>
          </a:xfrm>
          <a:prstGeom prst="line">
            <a:avLst/>
          </a:prstGeom>
          <a:noFill/>
          <a:ln w="15240">
            <a:solidFill>
              <a:srgbClr val="D6D3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20263104"/>
            <a:ext cx="512064" cy="512064"/>
          </a:xfrm>
          <a:prstGeom prst="ellipse">
            <a:avLst/>
          </a:prstGeom>
          <a:solidFill>
            <a:srgbClr val="2E7D6B"/>
          </a:solidFill>
          <a:ln>
            <a:solidFill>
              <a:srgbClr val="2E7D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99616" y="20281392"/>
            <a:ext cx="29077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20281392"/>
            <a:ext cx="100721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over mobile for complex lesson-design workflows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CK, PK, TK agents → pairwise PCK, TCK, TPK → TPACK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agent combination built; a discussion layer was weighed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classroom profile + Markdown content-policy guardrails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agent inputs, hand-offs and trade-offs logged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chosen over local SLMs for reasoning depth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vs Gemini Gems: stronger NCERT curriculum alignment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841248" y="23052024"/>
            <a:ext cx="13866876" cy="0"/>
          </a:xfrm>
          <a:prstGeom prst="line">
            <a:avLst/>
          </a:prstGeom>
          <a:noFill/>
          <a:ln w="15240">
            <a:solidFill>
              <a:srgbClr val="D6D3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23198328"/>
            <a:ext cx="512064" cy="512064"/>
          </a:xfrm>
          <a:prstGeom prst="ellipse">
            <a:avLst/>
          </a:prstGeom>
          <a:solidFill>
            <a:srgbClr val="2E7D6B"/>
          </a:solidFill>
          <a:ln>
            <a:solidFill>
              <a:srgbClr val="2E7D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1499616" y="23216616"/>
            <a:ext cx="290779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4636008" y="23216616"/>
            <a:ext cx="10072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concept: Gemini API + NCERT textbook vector embeddings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teacher inputs, logs, vector search, cited response cards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841248" y="24021288"/>
            <a:ext cx="13866876" cy="0"/>
          </a:xfrm>
          <a:prstGeom prst="line">
            <a:avLst/>
          </a:prstGeom>
          <a:noFill/>
          <a:ln w="15240">
            <a:solidFill>
              <a:srgbClr val="D6D3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24167592"/>
            <a:ext cx="512064" cy="512064"/>
          </a:xfrm>
          <a:prstGeom prst="ellipse">
            <a:avLst/>
          </a:prstGeom>
          <a:solidFill>
            <a:srgbClr val="2E7D6B"/>
          </a:solidFill>
          <a:ln>
            <a:solidFill>
              <a:srgbClr val="2E7D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8" name="Text 46"/>
          <p:cNvSpPr txBox="1"/>
          <p:nvPr/>
        </p:nvSpPr>
        <p:spPr>
          <a:xfrm>
            <a:off x="1499616" y="24185880"/>
            <a:ext cx="29077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&amp; evaluation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4636008" y="24185880"/>
            <a:ext cx="100721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responses, decision logging; human override as future work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vs single-LLM outputs across iterations and timestamps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Randomised, anonymised expert and teacher reviews</a:t>
            </a:r>
            <a:endParaRPr lang="en-US" sz="2400" dirty="0"/>
          </a:p>
        </p:txBody>
      </p:sp>
      <p:sp>
        <p:nvSpPr>
          <p:cNvPr id="50" name="TPACK framework"/>
          <p:cNvSpPr/>
          <p:nvPr/>
        </p:nvSpPr>
        <p:spPr>
          <a:xfrm>
            <a:off x="15275052" y="3520440"/>
            <a:ext cx="14452092" cy="9665208"/>
          </a:xfrm>
          <a:prstGeom prst="roundRect">
            <a:avLst>
              <a:gd name="adj" fmla="val 2081"/>
            </a:avLst>
          </a:prstGeom>
          <a:solidFill>
            <a:srgbClr val="EAF1F7"/>
          </a:solidFill>
          <a:ln w="19050">
            <a:solidFill>
              <a:srgbClr val="B8CB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567660" y="3813048"/>
            <a:ext cx="13866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TPACK Framework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15567660" y="4709160"/>
            <a:ext cx="138668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pedagogy and technology knowledge must work together [2]; each region is an agent.</a:t>
            </a:r>
            <a:endParaRPr lang="en-US" sz="2400" dirty="0"/>
          </a:p>
        </p:txBody>
      </p:sp>
      <p:sp>
        <p:nvSpPr>
          <p:cNvPr id="53" name="Contexts"/>
          <p:cNvSpPr/>
          <p:nvPr/>
        </p:nvSpPr>
        <p:spPr>
          <a:xfrm>
            <a:off x="15567660" y="5294376"/>
            <a:ext cx="6035040" cy="60350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9A9AF5"/>
            </a:solidFill>
            <a:prstDash val="dash"/>
          </a:ln>
        </p:spPr>
      </p:sp>
      <p:sp>
        <p:nvSpPr>
          <p:cNvPr id="54" name="TK circle"/>
          <p:cNvSpPr/>
          <p:nvPr/>
        </p:nvSpPr>
        <p:spPr>
          <a:xfrm>
            <a:off x="17122140" y="6117336"/>
            <a:ext cx="2926080" cy="2926080"/>
          </a:xfrm>
          <a:prstGeom prst="ellipse">
            <a:avLst/>
          </a:prstGeom>
          <a:solidFill>
            <a:srgbClr val="FF9CFF">
              <a:alpha val="60000"/>
            </a:srgbClr>
          </a:solidFill>
          <a:ln w="31750">
            <a:solidFill>
              <a:srgbClr val="1D1D1B"/>
            </a:solidFill>
            <a:prstDash val="solid"/>
          </a:ln>
        </p:spPr>
      </p:sp>
      <p:sp>
        <p:nvSpPr>
          <p:cNvPr id="55" name="PK circle"/>
          <p:cNvSpPr/>
          <p:nvPr/>
        </p:nvSpPr>
        <p:spPr>
          <a:xfrm>
            <a:off x="16280892" y="7415784"/>
            <a:ext cx="2926080" cy="2926080"/>
          </a:xfrm>
          <a:prstGeom prst="ellipse">
            <a:avLst/>
          </a:prstGeom>
          <a:solidFill>
            <a:srgbClr val="FFFF66">
              <a:alpha val="60000"/>
            </a:srgbClr>
          </a:solidFill>
          <a:ln w="31750">
            <a:solidFill>
              <a:srgbClr val="1D1D1B"/>
            </a:solidFill>
            <a:prstDash val="solid"/>
          </a:ln>
        </p:spPr>
      </p:sp>
      <p:sp>
        <p:nvSpPr>
          <p:cNvPr id="56" name="CK circle"/>
          <p:cNvSpPr/>
          <p:nvPr/>
        </p:nvSpPr>
        <p:spPr>
          <a:xfrm>
            <a:off x="17963388" y="7415784"/>
            <a:ext cx="2926080" cy="2926080"/>
          </a:xfrm>
          <a:prstGeom prst="ellipse">
            <a:avLst/>
          </a:prstGeom>
          <a:solidFill>
            <a:srgbClr val="66FFFF">
              <a:alpha val="60000"/>
            </a:srgbClr>
          </a:solidFill>
          <a:ln w="31750">
            <a:solidFill>
              <a:srgbClr val="1D1D1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762220" y="66202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16207740" y="9043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19316700" y="9043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16866108" y="7946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TPK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18658332" y="7946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TCK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17762220" y="9299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PCK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7762220" y="8385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TPACK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17762220" y="10716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Contexts</a:t>
            </a:r>
            <a:endParaRPr lang="en-US" sz="2400" dirty="0"/>
          </a:p>
        </p:txBody>
      </p:sp>
      <p:sp>
        <p:nvSpPr>
          <p:cNvPr id="65" name="Text 63"/>
          <p:cNvSpPr txBox="1"/>
          <p:nvPr/>
        </p:nvSpPr>
        <p:spPr>
          <a:xfrm>
            <a:off x="21968460" y="5294376"/>
            <a:ext cx="7466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1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 SAYS</a:t>
            </a:r>
            <a:endParaRPr lang="en-US" sz="2400" dirty="0"/>
          </a:p>
        </p:txBody>
      </p:sp>
      <p:sp>
        <p:nvSpPr>
          <p:cNvPr id="66" name="Evidence: 496 teachers"/>
          <p:cNvSpPr/>
          <p:nvPr/>
        </p:nvSpPr>
        <p:spPr>
          <a:xfrm>
            <a:off x="21968460" y="5797296"/>
            <a:ext cx="7466076" cy="1465326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 w="22860">
            <a:solidFill>
              <a:srgbClr val="2E7D6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2151340" y="5961888"/>
            <a:ext cx="710031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 teachers</a:t>
            </a:r>
            <a:endParaRPr lang="en-US" sz="2400" dirty="0"/>
          </a:p>
        </p:txBody>
      </p:sp>
      <p:sp>
        <p:nvSpPr>
          <p:cNvPr id="68" name="Text 66"/>
          <p:cNvSpPr txBox="1"/>
          <p:nvPr/>
        </p:nvSpPr>
        <p:spPr>
          <a:xfrm>
            <a:off x="22151340" y="6384798"/>
            <a:ext cx="7100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 study: stronger TPACK goes with higher acceptance of classroom technology [1]</a:t>
            </a:r>
            <a:endParaRPr lang="en-US" sz="2400" dirty="0"/>
          </a:p>
        </p:txBody>
      </p:sp>
      <p:sp>
        <p:nvSpPr>
          <p:cNvPr id="69" name="Evidence: Tech-minded teachers adopt"/>
          <p:cNvSpPr/>
          <p:nvPr/>
        </p:nvSpPr>
        <p:spPr>
          <a:xfrm>
            <a:off x="21968460" y="7399782"/>
            <a:ext cx="7466076" cy="1465326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 w="22860">
            <a:solidFill>
              <a:srgbClr val="2E7D6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2151340" y="7564374"/>
            <a:ext cx="710031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Tech-minded teachers adopt</a:t>
            </a:r>
            <a:endParaRPr lang="en-US" sz="2400" dirty="0"/>
          </a:p>
        </p:txBody>
      </p:sp>
      <p:sp>
        <p:nvSpPr>
          <p:cNvPr id="71" name="Text 69"/>
          <p:cNvSpPr txBox="1"/>
          <p:nvPr/>
        </p:nvSpPr>
        <p:spPr>
          <a:xfrm>
            <a:off x="22151340" y="7987284"/>
            <a:ext cx="7100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strong in technology are more interested in using it in class [1]</a:t>
            </a:r>
            <a:endParaRPr lang="en-US" sz="2400" dirty="0"/>
          </a:p>
        </p:txBody>
      </p:sp>
      <p:sp>
        <p:nvSpPr>
          <p:cNvPr id="72" name="Evidence: Content isn't enough"/>
          <p:cNvSpPr/>
          <p:nvPr/>
        </p:nvSpPr>
        <p:spPr>
          <a:xfrm>
            <a:off x="21968460" y="9002268"/>
            <a:ext cx="7466076" cy="1465326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 w="22860">
            <a:solidFill>
              <a:srgbClr val="2E7D6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2151340" y="9166860"/>
            <a:ext cx="710031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isn't enough</a:t>
            </a:r>
            <a:endParaRPr lang="en-US" sz="2400" dirty="0"/>
          </a:p>
        </p:txBody>
      </p:sp>
      <p:sp>
        <p:nvSpPr>
          <p:cNvPr id="74" name="Text 72"/>
          <p:cNvSpPr txBox="1"/>
          <p:nvPr/>
        </p:nvSpPr>
        <p:spPr>
          <a:xfrm>
            <a:off x="22151340" y="9589770"/>
            <a:ext cx="7100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content knowledge only modestly influence technology acceptance [1]</a:t>
            </a:r>
            <a:endParaRPr lang="en-US" sz="2400" dirty="0"/>
          </a:p>
        </p:txBody>
      </p:sp>
      <p:sp>
        <p:nvSpPr>
          <p:cNvPr id="75" name="Evidence: T + P + C"/>
          <p:cNvSpPr/>
          <p:nvPr/>
        </p:nvSpPr>
        <p:spPr>
          <a:xfrm>
            <a:off x="21968460" y="10604754"/>
            <a:ext cx="7466076" cy="1821942"/>
          </a:xfrm>
          <a:prstGeom prst="roundRect">
            <a:avLst>
              <a:gd name="adj" fmla="val 9034"/>
            </a:avLst>
          </a:prstGeom>
          <a:solidFill>
            <a:srgbClr val="FFFFFF"/>
          </a:solidFill>
          <a:ln w="22860">
            <a:solidFill>
              <a:srgbClr val="2E7D6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2151340" y="10769346"/>
            <a:ext cx="710031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P + C</a:t>
            </a:r>
            <a:endParaRPr lang="en-US" sz="2400" dirty="0"/>
          </a:p>
        </p:txBody>
      </p:sp>
      <p:sp>
        <p:nvSpPr>
          <p:cNvPr id="77" name="Text 75"/>
          <p:cNvSpPr txBox="1"/>
          <p:nvPr/>
        </p:nvSpPr>
        <p:spPr>
          <a:xfrm>
            <a:off x="22151340" y="11192256"/>
            <a:ext cx="7100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technology use needs content, pedagogy and technology knowledge together, not technology alone [2]</a:t>
            </a:r>
            <a:endParaRPr lang="en-US" sz="2400" dirty="0"/>
          </a:p>
        </p:txBody>
      </p:sp>
      <p:sp>
        <p:nvSpPr>
          <p:cNvPr id="78" name="Text 76"/>
          <p:cNvSpPr txBox="1"/>
          <p:nvPr/>
        </p:nvSpPr>
        <p:spPr>
          <a:xfrm>
            <a:off x="15567660" y="12536424"/>
            <a:ext cx="138668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adapted from tpack.org [3].</a:t>
            </a:r>
            <a:endParaRPr lang="en-US" sz="2400" dirty="0"/>
          </a:p>
        </p:txBody>
      </p:sp>
      <p:sp>
        <p:nvSpPr>
          <p:cNvPr id="79" name="Persona"/>
          <p:cNvSpPr/>
          <p:nvPr/>
        </p:nvSpPr>
        <p:spPr>
          <a:xfrm>
            <a:off x="15275052" y="13459968"/>
            <a:ext cx="14452092" cy="12024360"/>
          </a:xfrm>
          <a:prstGeom prst="roundRect">
            <a:avLst>
              <a:gd name="adj" fmla="val 1673"/>
            </a:avLst>
          </a:prstGeom>
          <a:solidFill>
            <a:srgbClr val="EAF1F7"/>
          </a:solidFill>
          <a:ln w="19050">
            <a:solidFill>
              <a:srgbClr val="B8CBE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5567660" y="13752576"/>
            <a:ext cx="13866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User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15567660" y="14694408"/>
            <a:ext cx="1325880" cy="1325880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3600" dirty="0"/>
          </a:p>
        </p:txBody>
      </p:sp>
      <p:sp>
        <p:nvSpPr>
          <p:cNvPr id="82" name="Text 80"/>
          <p:cNvSpPr txBox="1"/>
          <p:nvPr/>
        </p:nvSpPr>
        <p:spPr>
          <a:xfrm>
            <a:off x="17167860" y="14648688"/>
            <a:ext cx="12266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 Solanki, 38</a:t>
            </a:r>
            <a:pPr indent="0" marL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83" name="Text 81"/>
          <p:cNvSpPr txBox="1"/>
          <p:nvPr/>
        </p:nvSpPr>
        <p:spPr>
          <a:xfrm>
            <a:off x="17167860" y="15160752"/>
            <a:ext cx="122666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TGT Science · Kendriya Vidyalaya, Ahmedabad · B.Sc., B.Ed. · 11 years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6–8 Science · 5 sections × ~40 students · tech comfort: medium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board + projector · 1 student with low vision · PPT, YouTube, WhatsApp</a:t>
            </a:r>
            <a:endParaRPr lang="en-US" sz="2400" dirty="0"/>
          </a:p>
        </p:txBody>
      </p:sp>
      <p:sp>
        <p:nvSpPr>
          <p:cNvPr id="84" name="Persona quote"/>
          <p:cNvSpPr/>
          <p:nvPr/>
        </p:nvSpPr>
        <p:spPr>
          <a:xfrm>
            <a:off x="15567660" y="16431768"/>
            <a:ext cx="13866876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5841980" y="16596360"/>
            <a:ext cx="133182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a smart board in every class and no time to make anything good for it.”</a:t>
            </a:r>
            <a:endParaRPr lang="en-US" sz="2400" dirty="0"/>
          </a:p>
        </p:txBody>
      </p:sp>
      <p:sp>
        <p:nvSpPr>
          <p:cNvPr id="86" name="Text 84"/>
          <p:cNvSpPr txBox="1"/>
          <p:nvPr/>
        </p:nvSpPr>
        <p:spPr>
          <a:xfrm>
            <a:off x="15567660" y="17794224"/>
            <a:ext cx="13866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2400" dirty="0"/>
          </a:p>
        </p:txBody>
      </p:sp>
      <p:sp>
        <p:nvSpPr>
          <p:cNvPr id="87" name="Text 85"/>
          <p:cNvSpPr txBox="1"/>
          <p:nvPr/>
        </p:nvSpPr>
        <p:spPr>
          <a:xfrm>
            <a:off x="15567660" y="18251424"/>
            <a:ext cx="1386687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smart board to teach, not just to project slides [2]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confident choosing the right technology for each topic [1]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weekly lesson-planning time without lowering quality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lesson visible to his low-vision student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homework that works with or without a device at home</a:t>
            </a:r>
            <a:endParaRPr lang="en-US" sz="2400" dirty="0"/>
          </a:p>
        </p:txBody>
      </p:sp>
      <p:sp>
        <p:nvSpPr>
          <p:cNvPr id="88" name="Text 86"/>
          <p:cNvSpPr txBox="1"/>
          <p:nvPr/>
        </p:nvSpPr>
        <p:spPr>
          <a:xfrm>
            <a:off x="15567660" y="20290536"/>
            <a:ext cx="13866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00" kern="0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2400" dirty="0"/>
          </a:p>
        </p:txBody>
      </p:sp>
      <p:sp>
        <p:nvSpPr>
          <p:cNvPr id="89" name="Text 87"/>
          <p:cNvSpPr txBox="1"/>
          <p:nvPr/>
        </p:nvSpPr>
        <p:spPr>
          <a:xfrm>
            <a:off x="15567660" y="20747736"/>
            <a:ext cx="1386687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technology but no clear way to fit it to content and method [2]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biology knowledge alone doesn't make him confident with tech [1]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planning eats his evenings and weekends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plans don't follow NCERT and need heavy rewriting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slides exclude his low-vision student: dim room, small fonts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5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home devices, so he avoids digital homework</a:t>
            </a:r>
            <a:endParaRPr lang="en-US" sz="2400" dirty="0"/>
          </a:p>
        </p:txBody>
      </p:sp>
      <p:sp>
        <p:nvSpPr>
          <p:cNvPr id="90" name="Text 88"/>
          <p:cNvSpPr txBox="1"/>
          <p:nvPr/>
        </p:nvSpPr>
        <p:spPr>
          <a:xfrm>
            <a:off x="15567660" y="23161752"/>
            <a:ext cx="13866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&amp; TOOLS</a:t>
            </a:r>
            <a:endParaRPr lang="en-US" sz="2400" dirty="0"/>
          </a:p>
        </p:txBody>
      </p:sp>
      <p:sp>
        <p:nvSpPr>
          <p:cNvPr id="91" name="Text 89"/>
          <p:cNvSpPr txBox="1"/>
          <p:nvPr/>
        </p:nvSpPr>
        <p:spPr>
          <a:xfrm>
            <a:off x="15567660" y="23618952"/>
            <a:ext cx="138668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on his phone on Sunday nights · keeps ~30% of ChatGPT ideas · YouTube clips on a pen drive · PDFs on the parents' WhatsApp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board, laptop, Android phone, DIKSHA, PhET, free ChatGPT</a:t>
            </a:r>
            <a:endParaRPr lang="en-US" sz="2400" dirty="0"/>
          </a:p>
        </p:txBody>
      </p:sp>
      <p:sp>
        <p:nvSpPr>
          <p:cNvPr id="92" name="Text 90"/>
          <p:cNvSpPr txBox="1"/>
          <p:nvPr/>
        </p:nvSpPr>
        <p:spPr>
          <a:xfrm>
            <a:off x="15567660" y="24835104"/>
            <a:ext cx="138668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[1]/[2] research-backed; unmarked lines are assumptions to validate with KV teachers.</a:t>
            </a:r>
            <a:endParaRPr lang="en-US" sz="2400" dirty="0"/>
          </a:p>
        </p:txBody>
      </p:sp>
      <p:sp>
        <p:nvSpPr>
          <p:cNvPr id="93" name="Interface"/>
          <p:cNvSpPr/>
          <p:nvPr/>
        </p:nvSpPr>
        <p:spPr>
          <a:xfrm>
            <a:off x="15275052" y="25758648"/>
            <a:ext cx="14452092" cy="5683275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567660" y="26087832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95" name="Text 93"/>
          <p:cNvSpPr txBox="1"/>
          <p:nvPr/>
        </p:nvSpPr>
        <p:spPr>
          <a:xfrm>
            <a:off x="16408908" y="26051256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</a:t>
            </a:r>
            <a:endParaRPr lang="en-US" sz="2400" dirty="0"/>
          </a:p>
        </p:txBody>
      </p:sp>
      <p:pic>
        <p:nvPicPr>
          <p:cNvPr id="96" name="ui_plan_c.png" descr="..\poster\ui_plan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7660" y="26947368"/>
            <a:ext cx="4439412" cy="3735603"/>
          </a:xfrm>
          <a:prstGeom prst="rect">
            <a:avLst/>
          </a:prstGeom>
        </p:spPr>
      </p:pic>
      <p:sp>
        <p:nvSpPr>
          <p:cNvPr id="97" name="Shape 94"/>
          <p:cNvSpPr/>
          <p:nvPr/>
        </p:nvSpPr>
        <p:spPr>
          <a:xfrm>
            <a:off x="15567660" y="26947368"/>
            <a:ext cx="4439412" cy="3735603"/>
          </a:xfrm>
          <a:prstGeom prst="rect">
            <a:avLst/>
          </a:prstGeom>
          <a:ln w="19050">
            <a:solidFill>
              <a:srgbClr val="D6D3CA"/>
            </a:solidFill>
            <a:prstDash val="solid"/>
          </a:ln>
        </p:spPr>
      </p:sp>
      <p:pic>
        <p:nvPicPr>
          <p:cNvPr id="98" name="ui_citation_c.png" descr="..\poster\ui_citation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392" y="26947368"/>
            <a:ext cx="4439412" cy="3690261"/>
          </a:xfrm>
          <a:prstGeom prst="rect">
            <a:avLst/>
          </a:prstGeom>
        </p:spPr>
      </p:pic>
      <p:sp>
        <p:nvSpPr>
          <p:cNvPr id="99" name="Shape 95"/>
          <p:cNvSpPr/>
          <p:nvPr/>
        </p:nvSpPr>
        <p:spPr>
          <a:xfrm>
            <a:off x="20281392" y="26947368"/>
            <a:ext cx="4439412" cy="3690261"/>
          </a:xfrm>
          <a:prstGeom prst="rect">
            <a:avLst/>
          </a:prstGeom>
          <a:ln w="19050">
            <a:solidFill>
              <a:srgbClr val="D6D3CA"/>
            </a:solidFill>
            <a:prstDash val="solid"/>
          </a:ln>
        </p:spPr>
      </p:sp>
      <p:pic>
        <p:nvPicPr>
          <p:cNvPr id="100" name="ui_flagged_c.png" descr="..\poster\ui_flagged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5124" y="26947368"/>
            <a:ext cx="4439412" cy="3708533"/>
          </a:xfrm>
          <a:prstGeom prst="rect">
            <a:avLst/>
          </a:prstGeom>
        </p:spPr>
      </p:pic>
      <p:sp>
        <p:nvSpPr>
          <p:cNvPr id="101" name="Shape 96"/>
          <p:cNvSpPr/>
          <p:nvPr/>
        </p:nvSpPr>
        <p:spPr>
          <a:xfrm>
            <a:off x="24995124" y="26947368"/>
            <a:ext cx="4439412" cy="3708533"/>
          </a:xfrm>
          <a:prstGeom prst="rect">
            <a:avLst/>
          </a:prstGeom>
          <a:ln w="19050">
            <a:solidFill>
              <a:srgbClr val="D6D3CA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15567660" y="30792699"/>
            <a:ext cx="44394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5E lesson plan</a:t>
            </a:r>
            <a:endParaRPr lang="en-US" sz="2400" dirty="0"/>
          </a:p>
        </p:txBody>
      </p:sp>
      <p:sp>
        <p:nvSpPr>
          <p:cNvPr id="103" name="Text 98"/>
          <p:cNvSpPr txBox="1"/>
          <p:nvPr/>
        </p:nvSpPr>
        <p:spPr>
          <a:xfrm>
            <a:off x="20281392" y="30792699"/>
            <a:ext cx="44394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→ NCERT source</a:t>
            </a:r>
            <a:endParaRPr lang="en-US" sz="2400" dirty="0"/>
          </a:p>
        </p:txBody>
      </p:sp>
      <p:sp>
        <p:nvSpPr>
          <p:cNvPr id="104" name="Text 99"/>
          <p:cNvSpPr txBox="1"/>
          <p:nvPr/>
        </p:nvSpPr>
        <p:spPr>
          <a:xfrm>
            <a:off x="24995124" y="30792699"/>
            <a:ext cx="44394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request flagged</a:t>
            </a:r>
            <a:endParaRPr lang="en-US" sz="2400" dirty="0"/>
          </a:p>
        </p:txBody>
      </p:sp>
      <p:sp>
        <p:nvSpPr>
          <p:cNvPr id="105" name="Trade-offs"/>
          <p:cNvSpPr/>
          <p:nvPr/>
        </p:nvSpPr>
        <p:spPr>
          <a:xfrm>
            <a:off x="15275052" y="31716243"/>
            <a:ext cx="14452092" cy="4142232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15567660" y="32045427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07" name="Text 102"/>
          <p:cNvSpPr txBox="1"/>
          <p:nvPr/>
        </p:nvSpPr>
        <p:spPr>
          <a:xfrm>
            <a:off x="16408908" y="32008851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We Observed</a:t>
            </a:r>
            <a:endParaRPr lang="en-US" sz="2400" dirty="0"/>
          </a:p>
        </p:txBody>
      </p:sp>
      <p:sp>
        <p:nvSpPr>
          <p:cNvPr id="108" name="Text 103"/>
          <p:cNvSpPr txBox="1"/>
          <p:nvPr/>
        </p:nvSpPr>
        <p:spPr>
          <a:xfrm>
            <a:off x="15567660" y="32904963"/>
            <a:ext cx="138668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vs speed: </a:t>
            </a:r>
            <a:pPr indent="0" marL="0">
              <a:lnSpc>
                <a:spcPct val="100000"/>
              </a:lnSpc>
              <a:spcAft>
                <a:spcPts val="432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sequential Gemini calls ≈ 2 min per plan (110 s in one test), still far below the 15-min target.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vs context: </a:t>
            </a:r>
            <a:pPr indent="0" marL="0">
              <a:lnSpc>
                <a:spcPct val="100000"/>
              </a:lnSpc>
              <a:spcAft>
                <a:spcPts val="432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sees only its own inputs; free-text requests reach only the pedagogy agent.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vs coverage: </a:t>
            </a:r>
            <a:pPr indent="0" marL="0">
              <a:lnSpc>
                <a:spcPct val="100000"/>
              </a:lnSpc>
              <a:spcAft>
                <a:spcPts val="432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retrieved passages are taught, so every claim is cited; gaps are flagged.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</a:t>
            </a:r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vs friction: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blocks “acid attack”, allows “acids and bases”, adds ≈13 s.</a:t>
            </a:r>
            <a:endParaRPr lang="en-US" sz="2400" dirty="0"/>
          </a:p>
        </p:txBody>
      </p:sp>
      <p:sp>
        <p:nvSpPr>
          <p:cNvPr id="109" name="Implementation"/>
          <p:cNvSpPr/>
          <p:nvPr/>
        </p:nvSpPr>
        <p:spPr>
          <a:xfrm>
            <a:off x="15275052" y="36132795"/>
            <a:ext cx="14452092" cy="34198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15567660" y="36461979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11" name="Text 106"/>
          <p:cNvSpPr txBox="1"/>
          <p:nvPr/>
        </p:nvSpPr>
        <p:spPr>
          <a:xfrm>
            <a:off x="16408908" y="36425403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Future Scope</a:t>
            </a:r>
            <a:endParaRPr lang="en-US" sz="2400" dirty="0"/>
          </a:p>
        </p:txBody>
      </p:sp>
      <p:sp>
        <p:nvSpPr>
          <p:cNvPr id="112" name="Text 107"/>
          <p:cNvSpPr txBox="1"/>
          <p:nvPr/>
        </p:nvSpPr>
        <p:spPr>
          <a:xfrm>
            <a:off x="15567660" y="37321515"/>
            <a:ext cx="6773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2400" dirty="0"/>
          </a:p>
        </p:txBody>
      </p:sp>
      <p:sp>
        <p:nvSpPr>
          <p:cNvPr id="113" name="Text 108"/>
          <p:cNvSpPr txBox="1"/>
          <p:nvPr/>
        </p:nvSpPr>
        <p:spPr>
          <a:xfrm>
            <a:off x="22661118" y="37321515"/>
            <a:ext cx="6773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400" dirty="0"/>
          </a:p>
        </p:txBody>
      </p:sp>
      <p:sp>
        <p:nvSpPr>
          <p:cNvPr id="114" name="Text 109"/>
          <p:cNvSpPr txBox="1"/>
          <p:nvPr/>
        </p:nvSpPr>
        <p:spPr>
          <a:xfrm>
            <a:off x="15567660" y="37778715"/>
            <a:ext cx="67734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app: plan, handouts, quiz, teacher pack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NCERT Class 7, 18 chapters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TPACK + 2 screening agents (Gemini)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Cited, logged, 103 automated tests</a:t>
            </a:r>
            <a:endParaRPr lang="en-US" sz="2400" dirty="0"/>
          </a:p>
        </p:txBody>
      </p:sp>
      <p:sp>
        <p:nvSpPr>
          <p:cNvPr id="115" name="Text 110"/>
          <p:cNvSpPr txBox="1"/>
          <p:nvPr/>
        </p:nvSpPr>
        <p:spPr>
          <a:xfrm>
            <a:off x="22661118" y="37778715"/>
            <a:ext cx="67734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Inter-agent discussion for consensus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override, teacher profiles, history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lnSpc>
                <a:spcPct val="100000"/>
              </a:lnSpc>
              <a:spcAft>
                <a:spcPts val="14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to cut latency and API cost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8–10; teacher &amp; expert evaluation</a:t>
            </a:r>
            <a:endParaRPr lang="en-US" sz="2400" dirty="0"/>
          </a:p>
        </p:txBody>
      </p:sp>
      <p:sp>
        <p:nvSpPr>
          <p:cNvPr id="116" name="Architecture"/>
          <p:cNvSpPr/>
          <p:nvPr/>
        </p:nvSpPr>
        <p:spPr>
          <a:xfrm>
            <a:off x="548640" y="25950672"/>
            <a:ext cx="14452092" cy="13423392"/>
          </a:xfrm>
          <a:prstGeom prst="roundRect">
            <a:avLst>
              <a:gd name="adj" fmla="val 1499"/>
            </a:avLst>
          </a:prstGeom>
          <a:solidFill>
            <a:srgbClr val="FFFFFF"/>
          </a:solidFill>
          <a:ln w="19050">
            <a:solidFill>
              <a:srgbClr val="D6D3CA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841248" y="26279856"/>
            <a:ext cx="658368" cy="658368"/>
          </a:xfrm>
          <a:prstGeom prst="ellipse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8" name="Text 113"/>
          <p:cNvSpPr txBox="1"/>
          <p:nvPr/>
        </p:nvSpPr>
        <p:spPr>
          <a:xfrm>
            <a:off x="1682496" y="26243280"/>
            <a:ext cx="130256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119" name="architecture_diagram.png" descr="..\poster\architecture_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800" y="27139392"/>
            <a:ext cx="10719773" cy="11000232"/>
          </a:xfrm>
          <a:prstGeom prst="rect">
            <a:avLst/>
          </a:prstGeom>
        </p:spPr>
      </p:pic>
      <p:sp>
        <p:nvSpPr>
          <p:cNvPr id="120" name="Text 114"/>
          <p:cNvSpPr txBox="1"/>
          <p:nvPr/>
        </p:nvSpPr>
        <p:spPr>
          <a:xfrm>
            <a:off x="841248" y="38322504"/>
            <a:ext cx="138668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→ input guardrails → context layer → 3 layers of TPACK agents → output screening → teacher. Every step is logged.</a:t>
            </a:r>
            <a:endParaRPr lang="en-US" sz="2400" dirty="0"/>
          </a:p>
        </p:txBody>
      </p:sp>
      <p:sp>
        <p:nvSpPr>
          <p:cNvPr id="121" name="Footer"/>
          <p:cNvSpPr/>
          <p:nvPr/>
        </p:nvSpPr>
        <p:spPr>
          <a:xfrm>
            <a:off x="0" y="39556944"/>
            <a:ext cx="30275784" cy="3246120"/>
          </a:xfrm>
          <a:prstGeom prst="rect">
            <a:avLst>
              <a:gd name="adj" fmla="val 5070"/>
            </a:avLst>
          </a:prstGeom>
          <a:solidFill>
            <a:srgbClr val="FFFFFF"/>
          </a:solidFill>
          <a:ln/>
        </p:spPr>
      </p:sp>
      <p:sp>
        <p:nvSpPr>
          <p:cNvPr id="122" name="Text 116"/>
          <p:cNvSpPr txBox="1"/>
          <p:nvPr/>
        </p:nvSpPr>
        <p:spPr>
          <a:xfrm>
            <a:off x="548640" y="39739824"/>
            <a:ext cx="1956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1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23" name="Text 117"/>
          <p:cNvSpPr txBox="1"/>
          <p:nvPr/>
        </p:nvSpPr>
        <p:spPr>
          <a:xfrm>
            <a:off x="548640" y="40197024"/>
            <a:ext cx="195681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0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Mathew, L., &amp; George, L. (n.d.). Examining the relationship between acceptance of technology integration and dimensions of TPACK among higher secondary school teachers in Kerala. CHRIST (Deemed to be University) Institutional Repository. https://archives.christuniversity.in/items/show/24092</a:t>
            </a:r>
            <a:endParaRPr lang="en-US" sz="2400" dirty="0"/>
          </a:p>
          <a:p>
            <a:pPr indent="0" marL="0">
              <a:lnSpc>
                <a:spcPct val="100000"/>
              </a:lnSpc>
              <a:spcAft>
                <a:spcPts val="288"/>
              </a:spcAft>
              <a:buNone/>
            </a:pPr>
            <a:r>
              <a:rPr lang="en-US" sz="20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Mishra, P., &amp; Koehler, M. J. (2006). Technological pedagogical content knowledge: A framework for teacher knowledge. Teachers College Record, 108(6), 1017–1054.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5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TPACK diagram adapted from tpack.org. Reproduced by permission of the publisher, © 2012 by tpack.org.   [4] NCERT (2018–19). Science: Textbook for Class VII.</a:t>
            </a:r>
            <a:endParaRPr lang="en-US" sz="2400" dirty="0"/>
          </a:p>
        </p:txBody>
      </p:sp>
      <p:sp>
        <p:nvSpPr>
          <p:cNvPr id="124" name="Team"/>
          <p:cNvSpPr/>
          <p:nvPr/>
        </p:nvSpPr>
        <p:spPr>
          <a:xfrm>
            <a:off x="20574000" y="39739824"/>
            <a:ext cx="9153144" cy="2514600"/>
          </a:xfrm>
          <a:prstGeom prst="roundRect">
            <a:avLst>
              <a:gd name="adj" fmla="val 6545"/>
            </a:avLst>
          </a:prstGeom>
          <a:solidFill>
            <a:srgbClr val="EAF1F7"/>
          </a:solidFill>
          <a:ln w="19050">
            <a:solidFill>
              <a:srgbClr val="B8CBE0"/>
            </a:solidFill>
            <a:prstDash val="solid"/>
          </a:ln>
        </p:spPr>
      </p:sp>
      <p:sp>
        <p:nvSpPr>
          <p:cNvPr id="125" name="Text 119"/>
          <p:cNvSpPr txBox="1"/>
          <p:nvPr/>
        </p:nvSpPr>
        <p:spPr>
          <a:xfrm>
            <a:off x="20894040" y="39968424"/>
            <a:ext cx="8513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spc="1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GROUP 13</a:t>
            </a:r>
            <a:endParaRPr lang="en-US" sz="2400" dirty="0"/>
          </a:p>
        </p:txBody>
      </p:sp>
      <p:sp>
        <p:nvSpPr>
          <p:cNvPr id="126" name="Text 120"/>
          <p:cNvSpPr txBox="1"/>
          <p:nvPr/>
        </p:nvSpPr>
        <p:spPr>
          <a:xfrm>
            <a:off x="20894040" y="40517064"/>
            <a:ext cx="8513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Jitendra Malipeddi   </a:t>
            </a:r>
            <a:pPr indent="0" marL="0">
              <a:lnSpc>
                <a:spcPct val="100000"/>
              </a:lnSpc>
              <a:spcAft>
                <a:spcPts val="86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25m1027@iitb.ac.in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Mrunmay Mete   </a:t>
            </a:r>
            <a:pPr indent="0" marL="0">
              <a:lnSpc>
                <a:spcPct val="100000"/>
              </a:lnSpc>
              <a:spcAft>
                <a:spcPts val="864"/>
              </a:spcAft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25m1024@iitb.ac.in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Priyansh Kumar   </a:t>
            </a:r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25m1030@iitb.ac.in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AgentTPACK — research poster (A0)</dc:title>
  <dc:subject>PptxGenJS Presentation</dc:subject>
  <dc:creator>Group 13</dc:creator>
  <cp:lastModifiedBy>Group 13</cp:lastModifiedBy>
  <cp:revision>1</cp:revision>
  <dcterms:created xsi:type="dcterms:W3CDTF">2026-10-20T19:47:15Z</dcterms:created>
  <dcterms:modified xsi:type="dcterms:W3CDTF">2026-10-20T19:47:15Z</dcterms:modified>
</cp:coreProperties>
</file>